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2" r:id="rId16"/>
    <p:sldId id="270" r:id="rId17"/>
    <p:sldId id="271" r:id="rId18"/>
  </p:sldIdLst>
  <p:sldSz cx="12192000" cy="6858000"/>
  <p:notesSz cx="6858000" cy="9144000"/>
  <p:embeddedFontLst>
    <p:embeddedFont>
      <p:font typeface="Inter" panose="020B0604020202020204" charset="0"/>
      <p:regular r:id="rId20"/>
      <p:bold r:id="rId21"/>
      <p:italic r:id="rId22"/>
      <p:boldItalic r:id="rId23"/>
    </p:embeddedFont>
    <p:embeddedFont>
      <p:font typeface="Inter SemiBold" panose="020B0604020202020204" charset="0"/>
      <p:regular r:id="rId24"/>
      <p:bold r:id="rId25"/>
      <p:italic r:id="rId26"/>
      <p:boldItalic r:id="rId27"/>
    </p:embeddedFont>
    <p:embeddedFont>
      <p:font typeface="Poppins" panose="00000500000000000000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C9BB547-9ADB-4468-8162-B06AADFC4C3F}">
  <a:tblStyle styleId="{7C9BB547-9ADB-4468-8162-B06AADFC4C3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hyperlink" Target="https://project---8-bhkadqqmjigxwcnpd5y34u.streamlit.app/" TargetMode="Externa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1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590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76750" y="3785145"/>
            <a:ext cx="3238500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295275" y="1339304"/>
            <a:ext cx="11601450" cy="1188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Job Market Analysis &amp; NLP Recommendation System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286000" y="2718345"/>
            <a:ext cx="7620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3C5FD"/>
                </a:solidFill>
                <a:latin typeface="Inter"/>
                <a:ea typeface="Inter"/>
                <a:cs typeface="Inter"/>
                <a:sym typeface="Inter"/>
              </a:rPr>
              <a:t>An End-to-End Machine Learning, Deep Learning &amp; Transformer Deployment Project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867275" y="3985170"/>
            <a:ext cx="10382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SUBMITTED TO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4867275" y="4137570"/>
            <a:ext cx="10382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NextHikes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6286500" y="3985170"/>
            <a:ext cx="10382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SUBMITTED BY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286500" y="4137570"/>
            <a:ext cx="10382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Rajbir Kaur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00300"/>
            <a:ext cx="5334000" cy="278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400300"/>
            <a:ext cx="5334000" cy="278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1009650" y="476250"/>
            <a:ext cx="1114139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Project Overview &amp; Core Objectives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571500" y="962025"/>
            <a:ext cx="444817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57212"/>
            <a:ext cx="3238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847725" y="2676525"/>
            <a:ext cx="502062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Primary Objectives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562725" y="2676525"/>
            <a:ext cx="502062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Key Engineering Milestones</a:t>
            </a:r>
            <a:endParaRPr/>
          </a:p>
        </p:txBody>
      </p:sp>
      <p:pic>
        <p:nvPicPr>
          <p:cNvPr id="105" name="Google Shape;105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7725" y="2724150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847725" y="3105150"/>
            <a:ext cx="47815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1925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Classification:</a:t>
            </a: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Automatically classify job postings into tech domains using NLP.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47725" y="3705225"/>
            <a:ext cx="47815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1925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Demand Forecasting:</a:t>
            </a: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Predict future monthly posting trends using time-series models.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847725" y="4305300"/>
            <a:ext cx="47815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1925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Recommendation:</a:t>
            </a: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Semantic vector matching with transformer models and business filters.</a:t>
            </a:r>
            <a:endParaRPr/>
          </a:p>
        </p:txBody>
      </p:sp>
      <p:pic>
        <p:nvPicPr>
          <p:cNvPr id="109" name="Google Shape;109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62725" y="2724150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/>
        </p:nvSpPr>
        <p:spPr>
          <a:xfrm>
            <a:off x="6562725" y="3105150"/>
            <a:ext cx="47815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Benchmark 5 Supervised Classifier Architectures on TF-IDF.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6562725" y="3705225"/>
            <a:ext cx="47815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Compare Statistical (ARIMA) vs Deep Learning (LSTM) forecasting.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6562725" y="4305300"/>
            <a:ext cx="4781550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Deploy Streamlit Interactive App containerized via Docker.</a:t>
            </a:r>
            <a:endParaRPr/>
          </a:p>
        </p:txBody>
      </p:sp>
      <p:pic>
        <p:nvPicPr>
          <p:cNvPr id="113" name="Google Shape;113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7725" y="3133725"/>
            <a:ext cx="16192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7725" y="3733800"/>
            <a:ext cx="16192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7725" y="4333875"/>
            <a:ext cx="16192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562725" y="3133725"/>
            <a:ext cx="14287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562725" y="3733800"/>
            <a:ext cx="14287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562725" y="4333875"/>
            <a:ext cx="142875" cy="16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971550" y="476250"/>
            <a:ext cx="11181397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Classification Model Performance Comparison</a:t>
            </a:r>
            <a:endParaRPr/>
          </a:p>
        </p:txBody>
      </p:sp>
      <p:sp>
        <p:nvSpPr>
          <p:cNvPr id="125" name="Google Shape;125;p15"/>
          <p:cNvSpPr/>
          <p:nvPr/>
        </p:nvSpPr>
        <p:spPr>
          <a:xfrm>
            <a:off x="571500" y="962025"/>
            <a:ext cx="250507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57212"/>
            <a:ext cx="285750" cy="3238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7" name="Google Shape;127;p15"/>
          <p:cNvGraphicFramePr/>
          <p:nvPr/>
        </p:nvGraphicFramePr>
        <p:xfrm>
          <a:off x="571500" y="2116931"/>
          <a:ext cx="11049000" cy="3348000"/>
        </p:xfrm>
        <a:graphic>
          <a:graphicData uri="http://schemas.openxmlformats.org/drawingml/2006/table">
            <a:tbl>
              <a:tblPr firstRow="1" bandRow="1">
                <a:noFill/>
                <a:tableStyleId>{7C9BB547-9ADB-4468-8162-B06AADFC4C3F}</a:tableStyleId>
              </a:tblPr>
              <a:tblGrid>
                <a:gridCol w="332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9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88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56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8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Model Name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Accuracy (%)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F1-Score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Computational Overhead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Status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1D4ED8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Logistic Regression (TF-IDF Baseline)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1D4ED8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97.00%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1D4ED8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0.97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1D4ED8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Very Low (&lt; 1 min)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1D4ED8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Selected Baseline Optimal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Multi-Layer Perceptron (Neural Net)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96.41%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 (Iter limit 30)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Strong Alternative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Random Forest Classifier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95.96%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Medium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Evaluated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XGBoost Classifier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92.89%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Medium-High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Evaluated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Decision Tree Classifier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87.38%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0.87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Low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Baseline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8" name="Google Shape;128;p15"/>
          <p:cNvSpPr/>
          <p:nvPr/>
        </p:nvSpPr>
        <p:spPr>
          <a:xfrm>
            <a:off x="571500" y="3221831"/>
            <a:ext cx="332139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3892897" y="3221831"/>
            <a:ext cx="15396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5432524" y="3221831"/>
            <a:ext cx="11425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6575077" y="3221831"/>
            <a:ext cx="24885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9063632" y="3221831"/>
            <a:ext cx="25568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571500" y="3779043"/>
            <a:ext cx="332139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3892897" y="3779043"/>
            <a:ext cx="15396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/>
          <p:nvPr/>
        </p:nvSpPr>
        <p:spPr>
          <a:xfrm>
            <a:off x="5432524" y="3779043"/>
            <a:ext cx="11425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5"/>
          <p:cNvSpPr/>
          <p:nvPr/>
        </p:nvSpPr>
        <p:spPr>
          <a:xfrm>
            <a:off x="6575077" y="3779043"/>
            <a:ext cx="24885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/>
          <p:nvPr/>
        </p:nvSpPr>
        <p:spPr>
          <a:xfrm>
            <a:off x="9063632" y="3779043"/>
            <a:ext cx="25568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571500" y="4336256"/>
            <a:ext cx="332139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3892897" y="4336256"/>
            <a:ext cx="15396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5"/>
          <p:cNvSpPr/>
          <p:nvPr/>
        </p:nvSpPr>
        <p:spPr>
          <a:xfrm>
            <a:off x="5432524" y="4336256"/>
            <a:ext cx="11425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5"/>
          <p:cNvSpPr/>
          <p:nvPr/>
        </p:nvSpPr>
        <p:spPr>
          <a:xfrm>
            <a:off x="6575077" y="4336256"/>
            <a:ext cx="24885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5"/>
          <p:cNvSpPr/>
          <p:nvPr/>
        </p:nvSpPr>
        <p:spPr>
          <a:xfrm>
            <a:off x="9063632" y="4336256"/>
            <a:ext cx="25568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5"/>
          <p:cNvSpPr/>
          <p:nvPr/>
        </p:nvSpPr>
        <p:spPr>
          <a:xfrm>
            <a:off x="571500" y="4893468"/>
            <a:ext cx="332139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5"/>
          <p:cNvSpPr/>
          <p:nvPr/>
        </p:nvSpPr>
        <p:spPr>
          <a:xfrm>
            <a:off x="3892897" y="4893468"/>
            <a:ext cx="15396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5"/>
          <p:cNvSpPr/>
          <p:nvPr/>
        </p:nvSpPr>
        <p:spPr>
          <a:xfrm>
            <a:off x="5432524" y="4893468"/>
            <a:ext cx="11425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5"/>
          <p:cNvSpPr/>
          <p:nvPr/>
        </p:nvSpPr>
        <p:spPr>
          <a:xfrm>
            <a:off x="6575077" y="4893468"/>
            <a:ext cx="24885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5"/>
          <p:cNvSpPr/>
          <p:nvPr/>
        </p:nvSpPr>
        <p:spPr>
          <a:xfrm>
            <a:off x="9063632" y="4893468"/>
            <a:ext cx="25568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5"/>
          <p:cNvSpPr/>
          <p:nvPr/>
        </p:nvSpPr>
        <p:spPr>
          <a:xfrm>
            <a:off x="571500" y="5450681"/>
            <a:ext cx="332139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5"/>
          <p:cNvSpPr/>
          <p:nvPr/>
        </p:nvSpPr>
        <p:spPr>
          <a:xfrm>
            <a:off x="3892897" y="5450681"/>
            <a:ext cx="15396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5"/>
          <p:cNvSpPr/>
          <p:nvPr/>
        </p:nvSpPr>
        <p:spPr>
          <a:xfrm>
            <a:off x="5432524" y="5450681"/>
            <a:ext cx="11425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5"/>
          <p:cNvSpPr/>
          <p:nvPr/>
        </p:nvSpPr>
        <p:spPr>
          <a:xfrm>
            <a:off x="6575077" y="5450681"/>
            <a:ext cx="24885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5"/>
          <p:cNvSpPr/>
          <p:nvPr/>
        </p:nvSpPr>
        <p:spPr>
          <a:xfrm>
            <a:off x="9063632" y="5450681"/>
            <a:ext cx="25568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14637"/>
            <a:ext cx="5334000" cy="195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814637"/>
            <a:ext cx="5334000" cy="195262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6"/>
          <p:cNvSpPr txBox="1"/>
          <p:nvPr/>
        </p:nvSpPr>
        <p:spPr>
          <a:xfrm>
            <a:off x="933450" y="476250"/>
            <a:ext cx="1122140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Selected Classification Model: Logistic Regression</a:t>
            </a:r>
            <a:endParaRPr/>
          </a:p>
        </p:txBody>
      </p:sp>
      <p:sp>
        <p:nvSpPr>
          <p:cNvPr id="162" name="Google Shape;162;p16"/>
          <p:cNvSpPr/>
          <p:nvPr/>
        </p:nvSpPr>
        <p:spPr>
          <a:xfrm>
            <a:off x="571500" y="962025"/>
            <a:ext cx="20574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57212"/>
            <a:ext cx="2476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6"/>
          <p:cNvSpPr txBox="1"/>
          <p:nvPr/>
        </p:nvSpPr>
        <p:spPr>
          <a:xfrm>
            <a:off x="847725" y="3090862"/>
            <a:ext cx="502062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Mathematical &amp; Structural Fit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847725" y="3519487"/>
            <a:ext cx="4781550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TF-IDF feature extraction generates high-dimensional, sparse matrices. Linear classifiers like Logistic Regression excel in high dimensions because linear hyperplanes separate classes efficiently without overfitting.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6562725" y="3090862"/>
            <a:ext cx="502062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Speed &amp; Resource Efficiency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6562725" y="3519487"/>
            <a:ext cx="4781550" cy="728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Achieved top performance (</a:t>
            </a:r>
            <a:r>
              <a:rPr lang="en-US" sz="1275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97.00% Accuracy</a:t>
            </a: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275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0.97 F1-Score</a:t>
            </a: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) while requiring significantly lower training time and compute compared to MLP, XGBoost, or Random Forest ensembles.</a:t>
            </a:r>
            <a:endParaRPr/>
          </a:p>
        </p:txBody>
      </p:sp>
      <p:pic>
        <p:nvPicPr>
          <p:cNvPr id="168" name="Google Shape;168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7725" y="3138487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62725" y="3138487"/>
            <a:ext cx="180975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4748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7"/>
          <p:cNvSpPr txBox="1"/>
          <p:nvPr/>
        </p:nvSpPr>
        <p:spPr>
          <a:xfrm>
            <a:off x="1095375" y="476250"/>
            <a:ext cx="11051381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Neural Network (MLP) Classifier Performance</a:t>
            </a:r>
            <a:endParaRPr/>
          </a:p>
        </p:txBody>
      </p:sp>
      <p:sp>
        <p:nvSpPr>
          <p:cNvPr id="177" name="Google Shape;177;p17"/>
          <p:cNvSpPr/>
          <p:nvPr/>
        </p:nvSpPr>
        <p:spPr>
          <a:xfrm>
            <a:off x="571500" y="962025"/>
            <a:ext cx="269557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57212"/>
            <a:ext cx="409575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7"/>
          <p:cNvSpPr txBox="1"/>
          <p:nvPr/>
        </p:nvSpPr>
        <p:spPr>
          <a:xfrm>
            <a:off x="571500" y="2805112"/>
            <a:ext cx="53340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Overall Accuracy:</a:t>
            </a: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Achieved 96.41% accuracy across 29,534 test instances despite hitting max iteration cap (30).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571500" y="3462337"/>
            <a:ext cx="53340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 dirty="0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Class Balance:</a:t>
            </a:r>
            <a:r>
              <a:rPr lang="en-US" sz="12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Balanced precision and recall across all four domains (0.94 - 0.98).</a:t>
            </a:r>
            <a:endParaRPr dirty="0"/>
          </a:p>
        </p:txBody>
      </p:sp>
      <p:sp>
        <p:nvSpPr>
          <p:cNvPr id="181" name="Google Shape;181;p17"/>
          <p:cNvSpPr txBox="1"/>
          <p:nvPr/>
        </p:nvSpPr>
        <p:spPr>
          <a:xfrm>
            <a:off x="571500" y="4119562"/>
            <a:ext cx="53340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Key Insight:</a:t>
            </a: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Captures subtle non-linear dependencies in text embeddings but demands higher runtime.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8"/>
          <p:cNvSpPr txBox="1"/>
          <p:nvPr/>
        </p:nvSpPr>
        <p:spPr>
          <a:xfrm>
            <a:off x="1047750" y="476250"/>
            <a:ext cx="11101387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Gradient Boosting (XGBoost) Breakdown</a:t>
            </a:r>
            <a:endParaRPr/>
          </a:p>
        </p:txBody>
      </p:sp>
      <p:sp>
        <p:nvSpPr>
          <p:cNvPr id="190" name="Google Shape;190;p18"/>
          <p:cNvSpPr/>
          <p:nvPr/>
        </p:nvSpPr>
        <p:spPr>
          <a:xfrm>
            <a:off x="571500" y="962025"/>
            <a:ext cx="34861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" name="Google Shape;19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57212"/>
            <a:ext cx="3619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8"/>
          <p:cNvSpPr txBox="1"/>
          <p:nvPr/>
        </p:nvSpPr>
        <p:spPr>
          <a:xfrm>
            <a:off x="571500" y="2805112"/>
            <a:ext cx="53340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Overall Accuracy:</a:t>
            </a: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Achieved 92.89% (0.93 weighted average) on 29,534 test samples.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571500" y="3462337"/>
            <a:ext cx="53340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Perfect Precision:</a:t>
            </a: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Scored 1.00 precision in 'AI &amp; Data Science' with 0.78 recall (F1: 0.88 across 6,461 samples).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571500" y="4119562"/>
            <a:ext cx="53340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High Performers:</a:t>
            </a: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Design &amp; Creative achieved 0.97 F1-score; Web &amp; Dev scored 0.95 F1-score.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200150"/>
            <a:ext cx="11049000" cy="518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1009650" y="476250"/>
            <a:ext cx="1114139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Category-Wise Classification Accuracy Overview</a:t>
            </a:r>
            <a:endParaRPr/>
          </a:p>
        </p:txBody>
      </p:sp>
      <p:sp>
        <p:nvSpPr>
          <p:cNvPr id="203" name="Google Shape;203;p19"/>
          <p:cNvSpPr/>
          <p:nvPr/>
        </p:nvSpPr>
        <p:spPr>
          <a:xfrm>
            <a:off x="571500" y="962025"/>
            <a:ext cx="19907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4" name="Google Shape;204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57212"/>
            <a:ext cx="323850" cy="3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36081"/>
            <a:ext cx="5334000" cy="1709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936081"/>
            <a:ext cx="5334000" cy="1709737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0"/>
          <p:cNvSpPr txBox="1"/>
          <p:nvPr/>
        </p:nvSpPr>
        <p:spPr>
          <a:xfrm>
            <a:off x="1047750" y="476250"/>
            <a:ext cx="11101387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Time-Series Forecasting: Model Selection</a:t>
            </a:r>
            <a:endParaRPr/>
          </a:p>
        </p:txBody>
      </p:sp>
      <p:sp>
        <p:nvSpPr>
          <p:cNvPr id="213" name="Google Shape;213;p20"/>
          <p:cNvSpPr/>
          <p:nvPr/>
        </p:nvSpPr>
        <p:spPr>
          <a:xfrm>
            <a:off x="571500" y="962025"/>
            <a:ext cx="33909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4" name="Google Shape;214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57212"/>
            <a:ext cx="3619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0"/>
          <p:cNvSpPr txBox="1"/>
          <p:nvPr/>
        </p:nvSpPr>
        <p:spPr>
          <a:xfrm>
            <a:off x="847725" y="3212306"/>
            <a:ext cx="502062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ARIMA (Statistical Model)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847725" y="3640931"/>
            <a:ext cx="4781550" cy="728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Projected unbounded, strictly linear growth. While useful for simple trends, ARIMA failed to model post-expansion saturation or cyclical market corrections.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6562725" y="3212306"/>
            <a:ext cx="502062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LSTM Deep Learning (Selected)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6562725" y="3640931"/>
            <a:ext cx="4781550" cy="728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Captures complex non-linear temporal dynamics and post-surge stabilization. Forecasts realistic steady-state job postings (</a:t>
            </a:r>
            <a:r>
              <a:rPr lang="en-US" sz="1275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92k - 103k monthly</a:t>
            </a: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) for strategic platform planning.</a:t>
            </a:r>
            <a:endParaRPr/>
          </a:p>
        </p:txBody>
      </p:sp>
      <p:pic>
        <p:nvPicPr>
          <p:cNvPr id="219" name="Google Shape;219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7725" y="3259931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62725" y="3259931"/>
            <a:ext cx="209550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/>
          <p:nvPr/>
        </p:nvSpPr>
        <p:spPr>
          <a:xfrm>
            <a:off x="1009650" y="476250"/>
            <a:ext cx="1114139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LSTM Neural Network Demand Forecast Plot</a:t>
            </a:r>
            <a:endParaRPr/>
          </a:p>
        </p:txBody>
      </p:sp>
      <p:sp>
        <p:nvSpPr>
          <p:cNvPr id="228" name="Google Shape;228;p21"/>
          <p:cNvSpPr/>
          <p:nvPr/>
        </p:nvSpPr>
        <p:spPr>
          <a:xfrm>
            <a:off x="571500" y="962025"/>
            <a:ext cx="31432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" name="Google Shape;22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57212"/>
            <a:ext cx="3238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1"/>
          <p:cNvSpPr txBox="1"/>
          <p:nvPr/>
        </p:nvSpPr>
        <p:spPr>
          <a:xfrm>
            <a:off x="571500" y="2833687"/>
            <a:ext cx="53340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Historical Rise:</a:t>
            </a: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Minimal volume Dec 2023–Feb 2024, followed by a surge to ~102,000 in March and ~143,000 in April 2024.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571500" y="3471862"/>
            <a:ext cx="53340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Projected Stabilization:</a:t>
            </a: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May 2024 (~101k), June 2024 (~103k), and July 2024 (~92k).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571500" y="4110037"/>
            <a:ext cx="53340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Business Impact:</a:t>
            </a: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Prevents over-provisioning infrastructure during temporary market spikes.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64618"/>
            <a:ext cx="3524250" cy="2252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2664618"/>
            <a:ext cx="3524250" cy="2252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0" y="2664618"/>
            <a:ext cx="3524250" cy="2252662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2"/>
          <p:cNvSpPr txBox="1"/>
          <p:nvPr/>
        </p:nvSpPr>
        <p:spPr>
          <a:xfrm>
            <a:off x="1047750" y="476250"/>
            <a:ext cx="11101387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Transformer-Based Recommendation System</a:t>
            </a:r>
            <a:endParaRPr/>
          </a:p>
        </p:txBody>
      </p:sp>
      <p:sp>
        <p:nvSpPr>
          <p:cNvPr id="243" name="Google Shape;243;p22"/>
          <p:cNvSpPr/>
          <p:nvPr/>
        </p:nvSpPr>
        <p:spPr>
          <a:xfrm>
            <a:off x="571500" y="962025"/>
            <a:ext cx="254317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4" name="Google Shape;244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557212"/>
            <a:ext cx="3619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19150" y="2912268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2"/>
          <p:cNvSpPr txBox="1"/>
          <p:nvPr/>
        </p:nvSpPr>
        <p:spPr>
          <a:xfrm>
            <a:off x="819150" y="3559968"/>
            <a:ext cx="318039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1. Semantic Embedding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819150" y="3940968"/>
            <a:ext cx="3028950" cy="728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Utilizes HuggingFace Sentence-BERT (all-MiniLM-L6-v2) to encode job text into 384-dim dense vectors.</a:t>
            </a:r>
            <a:endParaRPr/>
          </a:p>
        </p:txBody>
      </p:sp>
      <p:pic>
        <p:nvPicPr>
          <p:cNvPr id="248" name="Google Shape;248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581525" y="2912268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2"/>
          <p:cNvSpPr txBox="1"/>
          <p:nvPr/>
        </p:nvSpPr>
        <p:spPr>
          <a:xfrm>
            <a:off x="4581525" y="3559968"/>
            <a:ext cx="318039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2. Cosine Proximity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4581525" y="3940968"/>
            <a:ext cx="3028950" cy="728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Computes similarity scores between user query vectors and cached job posting embeddings.</a:t>
            </a:r>
            <a:endParaRPr/>
          </a:p>
        </p:txBody>
      </p:sp>
      <p:pic>
        <p:nvPicPr>
          <p:cNvPr id="251" name="Google Shape;251;p22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343900" y="2912268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2"/>
          <p:cNvSpPr txBox="1"/>
          <p:nvPr/>
        </p:nvSpPr>
        <p:spPr>
          <a:xfrm>
            <a:off x="8343900" y="3559968"/>
            <a:ext cx="318039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3. Business Filters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8343900" y="3940968"/>
            <a:ext cx="3028950" cy="728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Enforces dynamic constraints (e.g., Minimum Budget ≥ $500) post similarity scoring.</a:t>
            </a:r>
            <a:endParaRPr/>
          </a:p>
        </p:txBody>
      </p:sp>
      <p:pic>
        <p:nvPicPr>
          <p:cNvPr id="254" name="Google Shape;254;p22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57262" y="3036093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2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733925" y="3036093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2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467725" y="3036093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3"/>
          <p:cNvSpPr txBox="1"/>
          <p:nvPr/>
        </p:nvSpPr>
        <p:spPr>
          <a:xfrm>
            <a:off x="1009650" y="476250"/>
            <a:ext cx="1114139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Sentence-BERT Query Matching Execution</a:t>
            </a:r>
            <a:endParaRPr/>
          </a:p>
        </p:txBody>
      </p:sp>
      <p:sp>
        <p:nvSpPr>
          <p:cNvPr id="264" name="Google Shape;264;p23"/>
          <p:cNvSpPr/>
          <p:nvPr/>
        </p:nvSpPr>
        <p:spPr>
          <a:xfrm>
            <a:off x="571500" y="962025"/>
            <a:ext cx="334327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5" name="Google Shape;265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57212"/>
            <a:ext cx="3238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3"/>
          <p:cNvSpPr txBox="1"/>
          <p:nvPr/>
        </p:nvSpPr>
        <p:spPr>
          <a:xfrm>
            <a:off x="571500" y="2862262"/>
            <a:ext cx="53340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Exact Matches:</a:t>
            </a: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User query </a:t>
            </a:r>
            <a:r>
              <a:rPr lang="en-US" sz="1275" b="0" i="1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'Data Scientist'</a:t>
            </a: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yielded 100.00% match scores on identical job titles.</a:t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571500" y="3481387"/>
            <a:ext cx="53340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Contextual Matching:</a:t>
            </a: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Captured semantically related roles like </a:t>
            </a:r>
            <a:r>
              <a:rPr lang="en-US" sz="1275" b="0" i="1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'Data science developer'</a:t>
            </a: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(85.81%) and </a:t>
            </a:r>
            <a:r>
              <a:rPr lang="en-US" sz="1275" b="0" i="1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'Data Engineer'</a:t>
            </a: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(81.36%).</a:t>
            </a:r>
            <a:endParaRPr/>
          </a:p>
        </p:txBody>
      </p:sp>
      <p:sp>
        <p:nvSpPr>
          <p:cNvPr id="268" name="Google Shape;268;p23"/>
          <p:cNvSpPr txBox="1"/>
          <p:nvPr/>
        </p:nvSpPr>
        <p:spPr>
          <a:xfrm>
            <a:off x="571500" y="4100512"/>
            <a:ext cx="53340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Budget Range:</a:t>
            </a: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Successfully retrieved qualified jobs ranging from $800 to $21,000.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36081"/>
            <a:ext cx="5334000" cy="1709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936081"/>
            <a:ext cx="5334000" cy="1709737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4"/>
          <p:cNvSpPr txBox="1"/>
          <p:nvPr/>
        </p:nvSpPr>
        <p:spPr>
          <a:xfrm>
            <a:off x="1009650" y="476250"/>
            <a:ext cx="1114139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Business Rule Filtering &amp; Metadata Pairing</a:t>
            </a:r>
            <a:endParaRPr/>
          </a:p>
        </p:txBody>
      </p:sp>
      <p:sp>
        <p:nvSpPr>
          <p:cNvPr id="278" name="Google Shape;278;p24"/>
          <p:cNvSpPr/>
          <p:nvPr/>
        </p:nvSpPr>
        <p:spPr>
          <a:xfrm>
            <a:off x="571500" y="962025"/>
            <a:ext cx="32766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9" name="Google Shape;279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57212"/>
            <a:ext cx="3238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4"/>
          <p:cNvSpPr txBox="1"/>
          <p:nvPr/>
        </p:nvSpPr>
        <p:spPr>
          <a:xfrm>
            <a:off x="847725" y="3212306"/>
            <a:ext cx="502062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Financial Constraint Validation</a:t>
            </a:r>
            <a:endParaRPr/>
          </a:p>
        </p:txBody>
      </p:sp>
      <p:sp>
        <p:nvSpPr>
          <p:cNvPr id="281" name="Google Shape;281;p24"/>
          <p:cNvSpPr txBox="1"/>
          <p:nvPr/>
        </p:nvSpPr>
        <p:spPr>
          <a:xfrm>
            <a:off x="847725" y="3640931"/>
            <a:ext cx="4781550" cy="728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Enforced Minimum Budget &gt;= $500 threshold. Low-budget listings are automatically filtered out post vector search without distorting semantic rankings.</a:t>
            </a:r>
            <a:endParaRPr/>
          </a:p>
        </p:txBody>
      </p:sp>
      <p:sp>
        <p:nvSpPr>
          <p:cNvPr id="282" name="Google Shape;282;p24"/>
          <p:cNvSpPr txBox="1"/>
          <p:nvPr/>
        </p:nvSpPr>
        <p:spPr>
          <a:xfrm>
            <a:off x="6562725" y="3212306"/>
            <a:ext cx="502062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Global Metadata Enrichment</a:t>
            </a:r>
            <a:endParaRPr/>
          </a:p>
        </p:txBody>
      </p:sp>
      <p:sp>
        <p:nvSpPr>
          <p:cNvPr id="283" name="Google Shape;283;p24"/>
          <p:cNvSpPr txBox="1"/>
          <p:nvPr/>
        </p:nvSpPr>
        <p:spPr>
          <a:xfrm>
            <a:off x="6562725" y="3640931"/>
            <a:ext cx="4781550" cy="728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Recommendations are dynamically paired with geographic location metadata (France, US, India, Pakistan) and domain tags (AI &amp; Data Science).</a:t>
            </a:r>
            <a:endParaRPr/>
          </a:p>
        </p:txBody>
      </p:sp>
      <p:pic>
        <p:nvPicPr>
          <p:cNvPr id="284" name="Google Shape;284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7725" y="3259931"/>
            <a:ext cx="1238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62725" y="3259931"/>
            <a:ext cx="209550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5"/>
          <p:cNvSpPr txBox="1"/>
          <p:nvPr/>
        </p:nvSpPr>
        <p:spPr>
          <a:xfrm>
            <a:off x="1095375" y="476250"/>
            <a:ext cx="11051381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Interactive Streamlit Web Application</a:t>
            </a:r>
            <a:endParaRPr/>
          </a:p>
        </p:txBody>
      </p:sp>
      <p:sp>
        <p:nvSpPr>
          <p:cNvPr id="293" name="Google Shape;293;p25"/>
          <p:cNvSpPr/>
          <p:nvPr/>
        </p:nvSpPr>
        <p:spPr>
          <a:xfrm>
            <a:off x="571500" y="962025"/>
            <a:ext cx="39338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4" name="Google Shape;294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57212"/>
            <a:ext cx="409575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5"/>
          <p:cNvSpPr txBox="1"/>
          <p:nvPr/>
        </p:nvSpPr>
        <p:spPr>
          <a:xfrm>
            <a:off x="571500" y="2712243"/>
            <a:ext cx="53340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App Architecture:</a:t>
            </a: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Multi-tab interface (Recommendation Engine &amp; Market Analytics Dashboard).</a:t>
            </a:r>
            <a:endParaRPr/>
          </a:p>
        </p:txBody>
      </p:sp>
      <p:sp>
        <p:nvSpPr>
          <p:cNvPr id="296" name="Google Shape;296;p25"/>
          <p:cNvSpPr txBox="1"/>
          <p:nvPr/>
        </p:nvSpPr>
        <p:spPr>
          <a:xfrm>
            <a:off x="571500" y="3350418"/>
            <a:ext cx="5334000" cy="728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Cached Artifacts:</a:t>
            </a: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Loads processed_jobs.pkl and job_embeddings.npy via @st.cache_resource for sub-second retrieval.</a:t>
            </a:r>
            <a:endParaRPr/>
          </a:p>
        </p:txBody>
      </p:sp>
      <p:sp>
        <p:nvSpPr>
          <p:cNvPr id="297" name="Google Shape;297;p25"/>
          <p:cNvSpPr txBox="1"/>
          <p:nvPr/>
        </p:nvSpPr>
        <p:spPr>
          <a:xfrm>
            <a:off x="571500" y="4231481"/>
            <a:ext cx="53340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Real-Time Querying:</a:t>
            </a: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Interactive sliders for budget and top-N match filtering.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6"/>
          <p:cNvSpPr txBox="1"/>
          <p:nvPr/>
        </p:nvSpPr>
        <p:spPr>
          <a:xfrm>
            <a:off x="1095375" y="476250"/>
            <a:ext cx="11051381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Containerization &amp; Docker Deployment</a:t>
            </a:r>
            <a:endParaRPr/>
          </a:p>
        </p:txBody>
      </p:sp>
      <p:sp>
        <p:nvSpPr>
          <p:cNvPr id="306" name="Google Shape;306;p26"/>
          <p:cNvSpPr/>
          <p:nvPr/>
        </p:nvSpPr>
        <p:spPr>
          <a:xfrm>
            <a:off x="571500" y="962025"/>
            <a:ext cx="37338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7" name="Google Shape;307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57212"/>
            <a:ext cx="409575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6"/>
          <p:cNvSpPr txBox="1"/>
          <p:nvPr/>
        </p:nvSpPr>
        <p:spPr>
          <a:xfrm>
            <a:off x="571500" y="2983706"/>
            <a:ext cx="5334000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Base Image:</a:t>
            </a: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Lightweight python:3.10-slim container environment.</a:t>
            </a:r>
            <a:endParaRPr/>
          </a:p>
        </p:txBody>
      </p:sp>
      <p:sp>
        <p:nvSpPr>
          <p:cNvPr id="309" name="Google Shape;309;p26"/>
          <p:cNvSpPr txBox="1"/>
          <p:nvPr/>
        </p:nvSpPr>
        <p:spPr>
          <a:xfrm>
            <a:off x="571500" y="3359943"/>
            <a:ext cx="53340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Dependencies:</a:t>
            </a: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Streamlit 1.32.0, PyTorch 2.2.1, Sentence-Transformers 2.5.1, Scikit-Learn 1.4.1.</a:t>
            </a:r>
            <a:endParaRPr/>
          </a:p>
        </p:txBody>
      </p:sp>
      <p:sp>
        <p:nvSpPr>
          <p:cNvPr id="310" name="Google Shape;310;p26"/>
          <p:cNvSpPr txBox="1"/>
          <p:nvPr/>
        </p:nvSpPr>
        <p:spPr>
          <a:xfrm>
            <a:off x="571500" y="3979068"/>
            <a:ext cx="53340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Deployment Zip:</a:t>
            </a: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Includes app.py, model binaries, embeddings, and docker-compose.yml.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CF5BD3-1BED-F57E-D943-DB6E965BAD06}"/>
              </a:ext>
            </a:extLst>
          </p:cNvPr>
          <p:cNvSpPr txBox="1"/>
          <p:nvPr/>
        </p:nvSpPr>
        <p:spPr>
          <a:xfrm>
            <a:off x="1268361" y="707924"/>
            <a:ext cx="9497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highlight>
                  <a:srgbClr val="FFFF00"/>
                </a:highlight>
                <a:hlinkClick r:id="rId2"/>
              </a:rPr>
              <a:t>https://project---8-bhkadqqmjigxwcnpd5y34u.streamlit.app</a:t>
            </a:r>
            <a:r>
              <a:rPr lang="en-US" dirty="0">
                <a:hlinkClick r:id="rId2"/>
              </a:rPr>
              <a:t>/</a:t>
            </a:r>
            <a:r>
              <a:rPr lang="en-US" dirty="0"/>
              <a:t>  - Link for </a:t>
            </a:r>
            <a:r>
              <a:rPr lang="en-US" dirty="0" err="1"/>
              <a:t>streamlit</a:t>
            </a:r>
            <a:r>
              <a:rPr lang="en-US" dirty="0"/>
              <a:t> app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5AD367-B314-3CB2-1E25-8AAF6F96CE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38865"/>
            <a:ext cx="12192000" cy="5617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2841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93193"/>
            <a:ext cx="5334000" cy="2195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693193"/>
            <a:ext cx="5334000" cy="2195512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7"/>
          <p:cNvSpPr txBox="1"/>
          <p:nvPr/>
        </p:nvSpPr>
        <p:spPr>
          <a:xfrm>
            <a:off x="971550" y="476250"/>
            <a:ext cx="11181397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References &amp; Technical Stack</a:t>
            </a:r>
            <a:endParaRPr/>
          </a:p>
        </p:txBody>
      </p:sp>
      <p:sp>
        <p:nvSpPr>
          <p:cNvPr id="320" name="Google Shape;320;p27"/>
          <p:cNvSpPr/>
          <p:nvPr/>
        </p:nvSpPr>
        <p:spPr>
          <a:xfrm>
            <a:off x="571500" y="962025"/>
            <a:ext cx="54578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1" name="Google Shape;321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57212"/>
            <a:ext cx="2857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7"/>
          <p:cNvSpPr txBox="1"/>
          <p:nvPr/>
        </p:nvSpPr>
        <p:spPr>
          <a:xfrm>
            <a:off x="847725" y="2969418"/>
            <a:ext cx="502062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81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Frameworks &amp; Libraries</a:t>
            </a:r>
            <a:endParaRPr/>
          </a:p>
        </p:txBody>
      </p:sp>
      <p:sp>
        <p:nvSpPr>
          <p:cNvPr id="323" name="Google Shape;323;p27"/>
          <p:cNvSpPr txBox="1"/>
          <p:nvPr/>
        </p:nvSpPr>
        <p:spPr>
          <a:xfrm>
            <a:off x="6562725" y="2969418"/>
            <a:ext cx="502062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19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Literature &amp; Standards</a:t>
            </a:r>
            <a:endParaRPr/>
          </a:p>
        </p:txBody>
      </p:sp>
      <p:pic>
        <p:nvPicPr>
          <p:cNvPr id="324" name="Google Shape;324;p2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7725" y="3017043"/>
            <a:ext cx="2381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7"/>
          <p:cNvSpPr txBox="1"/>
          <p:nvPr/>
        </p:nvSpPr>
        <p:spPr>
          <a:xfrm>
            <a:off x="752475" y="3395662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26" name="Google Shape;326;p27"/>
          <p:cNvSpPr txBox="1"/>
          <p:nvPr/>
        </p:nvSpPr>
        <p:spPr>
          <a:xfrm>
            <a:off x="847725" y="3398043"/>
            <a:ext cx="47815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NLP &amp; Transformers:</a:t>
            </a: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HuggingFace Sentence-Transformers, NLTK, Scikit-Learn (TF-IDF).</a:t>
            </a:r>
            <a:endParaRPr/>
          </a:p>
        </p:txBody>
      </p:sp>
      <p:sp>
        <p:nvSpPr>
          <p:cNvPr id="327" name="Google Shape;327;p27"/>
          <p:cNvSpPr txBox="1"/>
          <p:nvPr/>
        </p:nvSpPr>
        <p:spPr>
          <a:xfrm>
            <a:off x="752475" y="3881437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28" name="Google Shape;328;p27"/>
          <p:cNvSpPr txBox="1"/>
          <p:nvPr/>
        </p:nvSpPr>
        <p:spPr>
          <a:xfrm>
            <a:off x="847725" y="3883818"/>
            <a:ext cx="4781550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Deep Learning:</a:t>
            </a: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PyTorch 2.2.1, Multi-Layer Perceptron, LSTM.</a:t>
            </a:r>
            <a:endParaRPr/>
          </a:p>
        </p:txBody>
      </p:sp>
      <p:sp>
        <p:nvSpPr>
          <p:cNvPr id="329" name="Google Shape;329;p27"/>
          <p:cNvSpPr txBox="1"/>
          <p:nvPr/>
        </p:nvSpPr>
        <p:spPr>
          <a:xfrm>
            <a:off x="752475" y="4124325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30" name="Google Shape;330;p27"/>
          <p:cNvSpPr txBox="1"/>
          <p:nvPr/>
        </p:nvSpPr>
        <p:spPr>
          <a:xfrm>
            <a:off x="847725" y="4126706"/>
            <a:ext cx="4781550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Deployment:</a:t>
            </a: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Streamlit 1.32.0, Docker, Docker-Compose.</a:t>
            </a:r>
            <a:endParaRPr/>
          </a:p>
        </p:txBody>
      </p:sp>
      <p:pic>
        <p:nvPicPr>
          <p:cNvPr id="331" name="Google Shape;331;p2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62725" y="3017043"/>
            <a:ext cx="1619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7"/>
          <p:cNvSpPr txBox="1"/>
          <p:nvPr/>
        </p:nvSpPr>
        <p:spPr>
          <a:xfrm>
            <a:off x="6467475" y="3395662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33" name="Google Shape;333;p27"/>
          <p:cNvSpPr txBox="1"/>
          <p:nvPr/>
        </p:nvSpPr>
        <p:spPr>
          <a:xfrm>
            <a:off x="6562725" y="3398043"/>
            <a:ext cx="47815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Reimers &amp; Gurevych (2019): </a:t>
            </a:r>
            <a:r>
              <a:rPr lang="en-US" sz="1275" b="0" i="1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Sentence-BERT: Sentence Embeddings using Siamese BERT-Networks</a:t>
            </a: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334" name="Google Shape;334;p27"/>
          <p:cNvSpPr txBox="1"/>
          <p:nvPr/>
        </p:nvSpPr>
        <p:spPr>
          <a:xfrm>
            <a:off x="6467475" y="3881437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35" name="Google Shape;335;p27"/>
          <p:cNvSpPr txBox="1"/>
          <p:nvPr/>
        </p:nvSpPr>
        <p:spPr>
          <a:xfrm>
            <a:off x="6562725" y="3883818"/>
            <a:ext cx="47815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Scikit-Learn Documentation: Linear Classification &amp; Sparse Vector Space Models.</a:t>
            </a:r>
            <a:endParaRPr/>
          </a:p>
        </p:txBody>
      </p:sp>
      <p:sp>
        <p:nvSpPr>
          <p:cNvPr id="336" name="Google Shape;336;p27"/>
          <p:cNvSpPr txBox="1"/>
          <p:nvPr/>
        </p:nvSpPr>
        <p:spPr>
          <a:xfrm>
            <a:off x="6467475" y="4367212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37" name="Google Shape;337;p27"/>
          <p:cNvSpPr txBox="1"/>
          <p:nvPr/>
        </p:nvSpPr>
        <p:spPr>
          <a:xfrm>
            <a:off x="6562725" y="4369593"/>
            <a:ext cx="4781550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Streamlit &amp; Docker Container Deployment Guidelines.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Google Shape;342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5905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8"/>
          <p:cNvSpPr txBox="1"/>
          <p:nvPr/>
        </p:nvSpPr>
        <p:spPr>
          <a:xfrm>
            <a:off x="4205763" y="1814512"/>
            <a:ext cx="3780472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Thank You!</a:t>
            </a:r>
            <a:endParaRPr/>
          </a:p>
        </p:txBody>
      </p:sp>
      <p:sp>
        <p:nvSpPr>
          <p:cNvPr id="346" name="Google Shape;346;p28"/>
          <p:cNvSpPr txBox="1"/>
          <p:nvPr/>
        </p:nvSpPr>
        <p:spPr>
          <a:xfrm>
            <a:off x="3233737" y="2862262"/>
            <a:ext cx="57245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3C5FD"/>
                </a:solidFill>
                <a:latin typeface="Inter"/>
                <a:ea typeface="Inter"/>
                <a:cs typeface="Inter"/>
                <a:sym typeface="Inter"/>
              </a:rPr>
              <a:t>Job Market Analysis &amp; NLP Recommendation System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880</Words>
  <Application>Microsoft Office PowerPoint</Application>
  <PresentationFormat>Widescreen</PresentationFormat>
  <Paragraphs>111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Poppins</vt:lpstr>
      <vt:lpstr>Calibri</vt:lpstr>
      <vt:lpstr>Arial</vt:lpstr>
      <vt:lpstr>Inter SemiBold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HUT2099</dc:creator>
  <cp:lastModifiedBy>HUT2099</cp:lastModifiedBy>
  <cp:revision>5</cp:revision>
  <dcterms:modified xsi:type="dcterms:W3CDTF">2026-08-17T15:15:11Z</dcterms:modified>
</cp:coreProperties>
</file>